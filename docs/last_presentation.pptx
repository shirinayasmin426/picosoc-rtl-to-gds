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4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0.JPG" ContentType="image/jpeg"/>
  <Override PartName="/ppt/notesSlides/notesSlide5.xml" ContentType="application/vnd.openxmlformats-officedocument.presentationml.notesSlide+xml"/>
  <Override PartName="/ppt/media/image11.JPG" ContentType="image/jpeg"/>
  <Override PartName="/ppt/media/image12.JPG" ContentType="image/jpeg"/>
  <Override PartName="/ppt/media/image13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4.JPG" ContentType="image/jpeg"/>
  <Override PartName="/ppt/notesSlides/notesSlide8.xml" ContentType="application/vnd.openxmlformats-officedocument.presentationml.notesSlide+xml"/>
  <Override PartName="/ppt/media/image15.JPG" ContentType="image/jpeg"/>
  <Override PartName="/ppt/media/image16.JPG" ContentType="image/jpeg"/>
  <Override PartName="/ppt/notesSlides/notesSlide9.xml" ContentType="application/vnd.openxmlformats-officedocument.presentationml.notesSlide+xml"/>
  <Override PartName="/ppt/media/image17.JPG" ContentType="image/jpeg"/>
  <Override PartName="/ppt/media/image18.JPG" ContentType="image/jpe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19.JPG" ContentType="image/jpeg"/>
  <Override PartName="/ppt/media/image20.JPG" ContentType="image/jpeg"/>
  <Override PartName="/ppt/notesSlides/notesSlide12.xml" ContentType="application/vnd.openxmlformats-officedocument.presentationml.notesSlide+xml"/>
  <Override PartName="/ppt/media/image21.JPG" ContentType="image/jpeg"/>
  <Override PartName="/ppt/media/image22.JPG" ContentType="image/jpe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4605" autoAdjust="0"/>
    <p:restoredTop sz="86389" autoAdjust="0"/>
  </p:normalViewPr>
  <p:slideViewPr>
    <p:cSldViewPr snapToGrid="0" snapToObjects="1">
      <p:cViewPr>
        <p:scale>
          <a:sx n="95" d="100"/>
          <a:sy n="95" d="100"/>
        </p:scale>
        <p:origin x="92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BB3BE-7C2D-48AE-817D-B7DFE7A92FE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DF9E4-8C45-4E28-BC1E-0F511EE2C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7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PicoSoC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RTL-to-Sign-off Physical Design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  →  Innovus  →  Pegasus  →  Voltus  →  Conformal LEC  →  Tempus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8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· 90nm functional mode · 2x sram_2kbyte + 2x sram_4kbyte macros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Flow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 (Synthesis)  →  Innovus (Floorplan / Place / CTS / Route)  →  Pegasus (DRC/LVS)  →  Voltus (IR Drop)  →  Conformal LEC  →  Tempus (Sign-off STA)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/mnt/user-data/uploads/synth_timing_repor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" y="1536192"/>
            <a:ext cx="1819656" cy="813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" y="2468880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35618C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" y="24688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0352" y="274320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Synthesis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" y="290779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 + timing report from RTL.</a:t>
            </a:r>
            <a:endParaRPr lang="en-US" sz="770" dirty="0"/>
          </a:p>
        </p:txBody>
      </p:sp>
      <p:sp>
        <p:nvSpPr>
          <p:cNvPr id="13" name="Text 10"/>
          <p:cNvSpPr/>
          <p:nvPr/>
        </p:nvSpPr>
        <p:spPr>
          <a:xfrm>
            <a:off x="2587752" y="18516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A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008376" y="146304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1" descr="/mnt/user-data/uploads/picosoc_pin_allignment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81528" y="1536192"/>
            <a:ext cx="1819656" cy="81381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81528" y="2468880"/>
            <a:ext cx="607162" cy="219456"/>
          </a:xfrm>
          <a:prstGeom prst="roundRect">
            <a:avLst>
              <a:gd name="adj" fmla="val 16667"/>
            </a:avLst>
          </a:prstGeom>
          <a:solidFill>
            <a:srgbClr val="35618C"/>
          </a:solidFill>
          <a:ln/>
        </p:spPr>
      </p:sp>
      <p:sp>
        <p:nvSpPr>
          <p:cNvPr id="17" name="Text 13"/>
          <p:cNvSpPr/>
          <p:nvPr/>
        </p:nvSpPr>
        <p:spPr>
          <a:xfrm>
            <a:off x="3081528" y="2468880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INNOVUS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081528" y="274320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Floorplan + Pin Align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081528" y="290779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M2/M4 pins aligned one-by-one.</a:t>
            </a:r>
            <a:endParaRPr lang="en-US" sz="770" dirty="0"/>
          </a:p>
        </p:txBody>
      </p:sp>
      <p:sp>
        <p:nvSpPr>
          <p:cNvPr id="20" name="Text 16"/>
          <p:cNvSpPr/>
          <p:nvPr/>
        </p:nvSpPr>
        <p:spPr>
          <a:xfrm>
            <a:off x="5138928" y="18516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A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559552" y="146304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2" descr="/mnt/user-data/uploads/route_timing_repor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32704" y="1536192"/>
            <a:ext cx="1819656" cy="81381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32704" y="2468880"/>
            <a:ext cx="607162" cy="219456"/>
          </a:xfrm>
          <a:prstGeom prst="roundRect">
            <a:avLst>
              <a:gd name="adj" fmla="val 16667"/>
            </a:avLst>
          </a:prstGeom>
          <a:solidFill>
            <a:srgbClr val="35618C"/>
          </a:solidFill>
          <a:ln/>
        </p:spPr>
      </p:sp>
      <p:sp>
        <p:nvSpPr>
          <p:cNvPr id="24" name="Text 19"/>
          <p:cNvSpPr/>
          <p:nvPr/>
        </p:nvSpPr>
        <p:spPr>
          <a:xfrm>
            <a:off x="5632704" y="2468880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INNOVUS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632704" y="274320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Place → CTS → Route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32704" y="290779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tracked at every stage.</a:t>
            </a:r>
            <a:endParaRPr lang="en-US" sz="770" dirty="0"/>
          </a:p>
        </p:txBody>
      </p:sp>
      <p:sp>
        <p:nvSpPr>
          <p:cNvPr id="27" name="Text 22"/>
          <p:cNvSpPr/>
          <p:nvPr/>
        </p:nvSpPr>
        <p:spPr>
          <a:xfrm>
            <a:off x="7690104" y="18516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AF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110728" y="146304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518" y="1536192"/>
            <a:ext cx="1466380" cy="81381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183880" y="2468880"/>
            <a:ext cx="607162" cy="219456"/>
          </a:xfrm>
          <a:prstGeom prst="roundRect">
            <a:avLst>
              <a:gd name="adj" fmla="val 16667"/>
            </a:avLst>
          </a:prstGeom>
          <a:solidFill>
            <a:srgbClr val="35618C"/>
          </a:solidFill>
          <a:ln/>
        </p:spPr>
      </p:sp>
      <p:sp>
        <p:nvSpPr>
          <p:cNvPr id="31" name="Text 25"/>
          <p:cNvSpPr/>
          <p:nvPr/>
        </p:nvSpPr>
        <p:spPr>
          <a:xfrm>
            <a:off x="8183880" y="2468880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INNOVUS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183880" y="274320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Final Layout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183880" y="290779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DB for verification.</a:t>
            </a:r>
            <a:endParaRPr lang="en-US" sz="770" dirty="0"/>
          </a:p>
        </p:txBody>
      </p:sp>
      <p:sp>
        <p:nvSpPr>
          <p:cNvPr id="34" name="Shape 28"/>
          <p:cNvSpPr/>
          <p:nvPr/>
        </p:nvSpPr>
        <p:spPr>
          <a:xfrm>
            <a:off x="457200" y="36118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4" descr="/mnt/user-data/uploads/picosoc_lvs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0352" y="3685032"/>
            <a:ext cx="1819656" cy="813816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30352" y="4617720"/>
            <a:ext cx="607162" cy="219456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37" name="Text 30"/>
          <p:cNvSpPr/>
          <p:nvPr/>
        </p:nvSpPr>
        <p:spPr>
          <a:xfrm>
            <a:off x="530352" y="4617720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30352" y="48920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DRC / LVS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30352" y="50566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— SRAM macro issue.</a:t>
            </a:r>
            <a:endParaRPr lang="en-US" sz="770" dirty="0"/>
          </a:p>
        </p:txBody>
      </p:sp>
      <p:sp>
        <p:nvSpPr>
          <p:cNvPr id="40" name="Text 33"/>
          <p:cNvSpPr/>
          <p:nvPr/>
        </p:nvSpPr>
        <p:spPr>
          <a:xfrm>
            <a:off x="2587752" y="40005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AF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3008376" y="36118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2" name="Image 5" descr="/mnt/user-data/uploads/voltus_vdd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81528" y="3685032"/>
            <a:ext cx="1819656" cy="813816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3081528" y="4617720"/>
            <a:ext cx="541325" cy="219456"/>
          </a:xfrm>
          <a:prstGeom prst="roundRect">
            <a:avLst>
              <a:gd name="adj" fmla="val 16667"/>
            </a:avLst>
          </a:prstGeom>
          <a:solidFill>
            <a:srgbClr val="35618C"/>
          </a:solidFill>
          <a:ln/>
        </p:spPr>
      </p:sp>
      <p:sp>
        <p:nvSpPr>
          <p:cNvPr id="44" name="Text 36"/>
          <p:cNvSpPr/>
          <p:nvPr/>
        </p:nvSpPr>
        <p:spPr>
          <a:xfrm>
            <a:off x="3081528" y="4617720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VOLTUS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3081528" y="48920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IR Drop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3081528" y="50566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IR drop, VDD/VSS grid.</a:t>
            </a:r>
            <a:endParaRPr lang="en-US" sz="770" dirty="0"/>
          </a:p>
        </p:txBody>
      </p:sp>
      <p:sp>
        <p:nvSpPr>
          <p:cNvPr id="47" name="Text 39"/>
          <p:cNvSpPr/>
          <p:nvPr/>
        </p:nvSpPr>
        <p:spPr>
          <a:xfrm>
            <a:off x="5138928" y="40005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AF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0"/>
          <p:cNvSpPr/>
          <p:nvPr/>
        </p:nvSpPr>
        <p:spPr>
          <a:xfrm>
            <a:off x="5559552" y="36118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9" name="Image 6" descr="/mnt/user-data/uploads/LEC_final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632704" y="3685032"/>
            <a:ext cx="1819656" cy="813816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5632704" y="4617720"/>
            <a:ext cx="343814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51" name="Text 42"/>
          <p:cNvSpPr/>
          <p:nvPr/>
        </p:nvSpPr>
        <p:spPr>
          <a:xfrm>
            <a:off x="5632704" y="4617720"/>
            <a:ext cx="3438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5632704" y="48920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Equivalence Check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632704" y="50566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85/85 EQ — passed.</a:t>
            </a:r>
            <a:endParaRPr lang="en-US" sz="770" dirty="0"/>
          </a:p>
        </p:txBody>
      </p:sp>
      <p:sp>
        <p:nvSpPr>
          <p:cNvPr id="54" name="Text 45"/>
          <p:cNvSpPr/>
          <p:nvPr/>
        </p:nvSpPr>
        <p:spPr>
          <a:xfrm>
            <a:off x="7690104" y="40005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3AF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Shape 46"/>
          <p:cNvSpPr/>
          <p:nvPr/>
        </p:nvSpPr>
        <p:spPr>
          <a:xfrm>
            <a:off x="8110728" y="36118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6" name="Image 7" descr="/mnt/user-data/uploads/tempus_hold_clean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83880" y="3685032"/>
            <a:ext cx="1819656" cy="813816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8183880" y="4617720"/>
            <a:ext cx="541325" cy="219456"/>
          </a:xfrm>
          <a:prstGeom prst="roundRect">
            <a:avLst>
              <a:gd name="adj" fmla="val 16667"/>
            </a:avLst>
          </a:prstGeom>
          <a:solidFill>
            <a:srgbClr val="A8791F"/>
          </a:solidFill>
          <a:ln/>
        </p:spPr>
      </p:sp>
      <p:sp>
        <p:nvSpPr>
          <p:cNvPr id="58" name="Text 48"/>
          <p:cNvSpPr/>
          <p:nvPr/>
        </p:nvSpPr>
        <p:spPr>
          <a:xfrm>
            <a:off x="8183880" y="4617720"/>
            <a:ext cx="541325" cy="219456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TEMPUS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8183880" y="48920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Sign-off STA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8183880" y="505663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fixed, setup open.</a:t>
            </a:r>
            <a:endParaRPr lang="en-US" sz="770" dirty="0"/>
          </a:p>
        </p:txBody>
      </p:sp>
      <p:sp>
        <p:nvSpPr>
          <p:cNvPr id="62" name="Text 52"/>
          <p:cNvSpPr/>
          <p:nvPr/>
        </p:nvSpPr>
        <p:spPr>
          <a:xfrm>
            <a:off x="621792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— Genus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49040" cy="4791456"/>
          </a:xfrm>
          <a:prstGeom prst="roundRect">
            <a:avLst>
              <a:gd name="adj" fmla="val 1220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uploads/synth_qor_repor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" y="1216152"/>
            <a:ext cx="3602736" cy="43342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562356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 report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143000"/>
            <a:ext cx="7296912" cy="4791456"/>
          </a:xfrm>
          <a:prstGeom prst="roundRect">
            <a:avLst>
              <a:gd name="adj" fmla="val 954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/mnt/user-data/uploads/synth_timing_report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7992" y="1216152"/>
            <a:ext cx="7150608" cy="43342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5623560"/>
            <a:ext cx="7150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timing path report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58064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mapped to sky130 standard cells + sram_2kbyte / sram_4kbyte macros at the ss_1.62_125 worst-case corner; setup timing met with 0 ps slack on the critical path.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QoR: ~11,522 leaf instances, 1.73M µm² cell area, max fanout 2475 — this netlist and its generated SDC were carried forward into Innovus for physical implementation.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Floorplan &amp; Special Pin Alignment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15400" y="621792"/>
            <a:ext cx="1726387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0" y="621792"/>
            <a:ext cx="17263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ALIGNMENT: DONE WELL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532120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701519"/>
            <a:ext cx="5385816" cy="30434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530352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 — 4 SRAM macros placed in a cross layout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72200" y="1143000"/>
            <a:ext cx="5559552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mnt/user-data/uploads/picosoc_pin_allignment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5352" y="1216152"/>
            <a:ext cx="5413248" cy="4014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45352" y="530352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alignment on Metal-2 / Metal-4 tracks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553212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 places the four SRAM macros (2 × 2 KB, 2 × 4 KB) around the CPU core; power rings/stripes route around the cross-shaped macro cluster.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alignment was handled as a separate, dedicated task: since the macros' I/O pitch didn't fall on a routing-friendly grid, each pin was aligned individually — one at a time — on </a:t>
            </a:r>
            <a:r>
              <a:rPr lang="en-US" sz="11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Met2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1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Met4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/>
              <a:t>Pin alignment has been optimized in MET2 and MAT4 as requested, with pin placement adjusted to improve routing access and minimize congestion in the design.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→ CTS → Route: Timing Progression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11880" cy="3374136"/>
          </a:xfrm>
          <a:prstGeom prst="roundRect">
            <a:avLst>
              <a:gd name="adj" fmla="val 1355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339159"/>
            <a:ext cx="3465576" cy="26709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42062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Pre-CTS (post-place)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8536" y="1143000"/>
            <a:ext cx="3611880" cy="3374136"/>
          </a:xfrm>
          <a:prstGeom prst="roundRect">
            <a:avLst>
              <a:gd name="adj" fmla="val 1355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688" y="1227166"/>
            <a:ext cx="3465576" cy="28949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61688" y="42062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Post-CTS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119872" y="1143000"/>
            <a:ext cx="3611880" cy="3374136"/>
          </a:xfrm>
          <a:prstGeom prst="roundRect">
            <a:avLst>
              <a:gd name="adj" fmla="val 1355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024" y="1312199"/>
            <a:ext cx="3465576" cy="2724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3024" y="42062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Post-route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57200" y="47091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/>
              <a:t>Place → CTS → Route timing progression shows progressive setup-timing degradation as clock latency and extracted routing </a:t>
            </a:r>
            <a:r>
              <a:rPr lang="en-US" sz="1200" dirty="0" err="1"/>
              <a:t>parasitics</a:t>
            </a:r>
            <a:r>
              <a:rPr lang="en-US" sz="1200" dirty="0"/>
              <a:t> are introduced. WNS degrades from +0.158 ns (post-place) to −0.528 ns (post-CTS) and −2.612 ns (post-route), while TNS increases from 0 to −31.6 ns and finally −271.2 ns. The number of violating paths increases from 0 → 119 → 226, highlighting the impact of post-route RC extraction on timing closure.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Post-route is where timing closure gets genuinely hard: real extracted RC replaces estimated wire models, density reaches ~99.99% with fillers, and routing overflow is pinned at 0.00% — so there's almost no free space left for the optimizer to add buffers or re-route congested nets, which is exactly what carried these setup violations forward into the Tempus sign-off stage.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Physical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56916" y="923544"/>
            <a:ext cx="6675120" cy="4882896"/>
          </a:xfrm>
          <a:prstGeom prst="roundRect">
            <a:avLst>
              <a:gd name="adj" fmla="val 936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352" y="1525870"/>
            <a:ext cx="6528816" cy="36233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16352" y="5623560"/>
            <a:ext cx="652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routed database — picosoc top level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58064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placed, clock-tree-synthesized, and routed design with the 4 SRAM macros, filler/tap cells, and power grid in place — this database is the handoff point into physical verification (Pegasus) and power analysis (Voltus).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Physical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0" y="1051560"/>
            <a:ext cx="6675120" cy="4882896"/>
          </a:xfrm>
          <a:prstGeom prst="roundRect">
            <a:avLst>
              <a:gd name="adj" fmla="val 936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352" y="1407672"/>
            <a:ext cx="6528816" cy="35660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16352" y="5623560"/>
            <a:ext cx="652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routed database — picosoc top level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58064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10" name="Rectangle 9"/>
          <p:cNvSpPr/>
          <p:nvPr/>
        </p:nvSpPr>
        <p:spPr>
          <a:xfrm>
            <a:off x="901051" y="5934456"/>
            <a:ext cx="101718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Final Routed Design:</a:t>
            </a:r>
            <a:r>
              <a:rPr lang="en-US" dirty="0"/>
              <a:t> Full-chip routing is completed successfully with </a:t>
            </a:r>
            <a:r>
              <a:rPr lang="en-US" b="1" dirty="0"/>
              <a:t>no routing congestion/overflow</a:t>
            </a:r>
            <a:r>
              <a:rPr lang="en-US" dirty="0"/>
              <a:t>, providing a clean and routable layout ready for downstream sign-off analysis.</a:t>
            </a:r>
          </a:p>
        </p:txBody>
      </p:sp>
    </p:spTree>
    <p:extLst>
      <p:ext uri="{BB962C8B-B14F-4D97-AF65-F5344CB8AC3E}">
        <p14:creationId xmlns:p14="http://schemas.microsoft.com/office/powerpoint/2010/main" val="3877531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09027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Verification — Pegasus DRC / LVS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" y="811947"/>
            <a:ext cx="5532120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53" y="987009"/>
            <a:ext cx="4146961" cy="4014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530352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results 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40856" y="758409"/>
            <a:ext cx="5559552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544" y="1143000"/>
            <a:ext cx="5296864" cy="4014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5352" y="530352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 run summary 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553212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150" dirty="0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26815" y="5459542"/>
            <a:ext cx="119806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DRC: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All identified PSD-related DRC violations have been resolved, and the design now passes DRC.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LVS: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LVS is clean for the implemented design. The remaining issue is internal to the SRAM macro and is outside the scope of my work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Post-Timing ECO: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DRC and LVS were re-run after the timing ECO, with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no change in the results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; the design remains DRC/LVS clean.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Integrity — Voltus Static IR Drop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32120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590948"/>
            <a:ext cx="5385816" cy="3264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530352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 rail — IR drop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987551"/>
            <a:ext cx="5559552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352" y="1759348"/>
            <a:ext cx="5413248" cy="29278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5352" y="530352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rail — IR drop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08076" y="5846186"/>
            <a:ext cx="11274552" cy="79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150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266978" y="5644486"/>
            <a:ext cx="117937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VDD (1.8 V):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Maximum IR drop =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10.60 mV (≈0.59%)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VSS: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Maximum IR drop =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10.60 mV (≈0.59%)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Overall: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Both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VDD and VSS power networks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show a maximum static IR drop of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10.60 mV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with no points exceeding this value.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Equivalence Check (LEC)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45920" y="1280160"/>
            <a:ext cx="8869680" cy="4242816"/>
          </a:xfrm>
          <a:prstGeom prst="roundRect">
            <a:avLst>
              <a:gd name="adj" fmla="val 1078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uploads/LEC_fin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19072" y="1353312"/>
            <a:ext cx="8723376" cy="3785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5212080"/>
            <a:ext cx="8723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LEC — Verification Report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54864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equivalence check comparing the pre- and post-layout netlists: 85/85 compare points EQ, 0 NON-EQ, 0 aborted, 0 uncompared — result: PASS.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none of the ECO/optimization changes made through place-and-route and timing closure altered the design's logical function.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Sign-off STA (Tempus) — Initial Violations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32120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720999"/>
            <a:ext cx="5385816" cy="30045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530352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analysis — before fix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143000"/>
            <a:ext cx="5559552" cy="4471416"/>
          </a:xfrm>
          <a:prstGeom prst="roundRect">
            <a:avLst>
              <a:gd name="adj" fmla="val 1022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352" y="1891524"/>
            <a:ext cx="5413248" cy="2663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5352" y="530352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analysis — before fix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5913564"/>
            <a:ext cx="11274552" cy="67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1150" dirty="0"/>
          </a:p>
        </p:txBody>
      </p:sp>
      <p:sp>
        <p:nvSpPr>
          <p:cNvPr id="13" name="Rectangle 12"/>
          <p:cNvSpPr/>
          <p:nvPr/>
        </p:nvSpPr>
        <p:spPr>
          <a:xfrm>
            <a:off x="707492" y="5660349"/>
            <a:ext cx="10438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Setup timing is clean with zero setup violations; only hold timing violations remain and are being addressed through timing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Sign-off STA (Tempus) — After ECO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532120" cy="4242816"/>
          </a:xfrm>
          <a:prstGeom prst="roundRect">
            <a:avLst>
              <a:gd name="adj" fmla="val 1078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518832"/>
            <a:ext cx="5385816" cy="29973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498348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— fully clean (WNS/TNS = 0)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051560"/>
            <a:ext cx="5559552" cy="4242816"/>
          </a:xfrm>
          <a:prstGeom prst="roundRect">
            <a:avLst>
              <a:gd name="adj" fmla="val 1078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352" y="1458320"/>
            <a:ext cx="5413248" cy="3118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5352" y="498348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remaining fails (memory→cpu, falling edge)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5440680"/>
            <a:ext cx="11274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endParaRPr lang="en-US" sz="980" dirty="0" smtClean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888" y="5641955"/>
            <a:ext cx="10712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After a single ECO for hold optimization, all hold violations were resolved while maintaining clean setup timing. The final design is clean for both setup and hold.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Summary &amp; Open Items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44805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(Genus)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248156"/>
            <a:ext cx="672998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248156"/>
            <a:ext cx="672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91056"/>
            <a:ext cx="11274552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91056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 / Place / CTS / Route (Innovus)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6212"/>
            <a:ext cx="672998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696212"/>
            <a:ext cx="672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11274552" cy="44805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39112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Pin Alignment (Metal-2 / Metal-4)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144268"/>
            <a:ext cx="1594714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144268"/>
            <a:ext cx="1594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87168"/>
            <a:ext cx="11274552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87168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Verification (Pegasus DRC/LVS)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592324"/>
            <a:ext cx="2055571" cy="219456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592324"/>
            <a:ext cx="20555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clean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11274552" cy="44805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35224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Integrity (Voltus IR Drop)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0" y="3040380"/>
            <a:ext cx="672998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3040380"/>
            <a:ext cx="672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11274552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383280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Equivalence Check (LEC)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55280" y="3488436"/>
            <a:ext cx="541325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3488436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31336"/>
            <a:ext cx="11274552" cy="448056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31336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STA (Tempus) — Hold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55280" y="3936492"/>
            <a:ext cx="541325" cy="219456"/>
          </a:xfrm>
          <a:prstGeom prst="roundRect">
            <a:avLst>
              <a:gd name="adj" fmla="val 16667"/>
            </a:avLst>
          </a:prstGeom>
          <a:solidFill>
            <a:srgbClr val="2F7D5C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3936492"/>
            <a:ext cx="541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279392"/>
            <a:ext cx="11274552" cy="448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79392"/>
            <a:ext cx="7132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STA (Tempus) — Setup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55280" y="4384548"/>
            <a:ext cx="2055571" cy="219456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7955280" y="4384548"/>
            <a:ext cx="20555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Met</a:t>
            </a:r>
          </a:p>
        </p:txBody>
      </p:sp>
      <p:sp>
        <p:nvSpPr>
          <p:cNvPr id="38" name="Shape 36"/>
          <p:cNvSpPr/>
          <p:nvPr/>
        </p:nvSpPr>
        <p:spPr>
          <a:xfrm>
            <a:off x="457200" y="4974336"/>
            <a:ext cx="11274552" cy="1280160"/>
          </a:xfrm>
          <a:prstGeom prst="roundRect">
            <a:avLst>
              <a:gd name="adj" fmla="val 3571"/>
            </a:avLst>
          </a:prstGeom>
          <a:solidFill>
            <a:srgbClr val="FBEDEA"/>
          </a:solidFill>
          <a:ln w="12700">
            <a:solidFill>
              <a:srgbClr val="E3B3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065776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545527" y="5152751"/>
            <a:ext cx="1106735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Final Design Status: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All identified physical design and sign-off issues have been resolved. The final design is clean for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setup and hold timing, DRC, and LVS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with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no routing congestion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 The post-ECO verification also confirmed that the design remains clean across all key checks.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5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Files Location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98480" y="6528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PicoSoC Physical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795760" y="6528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868680"/>
          </a:xfrm>
          <a:prstGeom prst="roundRect">
            <a:avLst>
              <a:gd name="adj" fmla="val 5263"/>
            </a:avLst>
          </a:prstGeom>
          <a:solidFill>
            <a:srgbClr val="F5F6F8"/>
          </a:solidFill>
          <a:ln w="9525">
            <a:solidFill>
              <a:srgbClr val="D9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folder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/pnr_training/WORK_BATCH1/shiri_41/final_deliverable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12745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/>
              <a:t>Synthesis outputs</a:t>
            </a:r>
            <a:r>
              <a:rPr lang="en-US" sz="1400" dirty="0"/>
              <a:t> — Mapped </a:t>
            </a:r>
            <a:r>
              <a:rPr lang="en-US" sz="1400" dirty="0" err="1"/>
              <a:t>netlist</a:t>
            </a:r>
            <a:r>
              <a:rPr lang="en-US" sz="1400" dirty="0"/>
              <a:t>, generated SDC, Genus </a:t>
            </a:r>
            <a:r>
              <a:rPr lang="en-US" sz="1400" dirty="0" err="1"/>
              <a:t>QoR</a:t>
            </a:r>
            <a:r>
              <a:rPr lang="en-US" sz="1400" dirty="0"/>
              <a:t>, and synthesis timing reports. </a:t>
            </a:r>
            <a:endParaRPr lang="en-US" sz="1400" dirty="0" smtClean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 err="1" smtClean="0"/>
              <a:t>Innovus</a:t>
            </a:r>
            <a:r>
              <a:rPr lang="en-US" sz="1400" b="1" dirty="0" smtClean="0"/>
              <a:t> </a:t>
            </a:r>
            <a:r>
              <a:rPr lang="en-US" sz="1400" b="1" dirty="0" err="1"/>
              <a:t>PnR</a:t>
            </a:r>
            <a:r>
              <a:rPr lang="en-US" sz="1400" b="1" dirty="0"/>
              <a:t> database</a:t>
            </a:r>
            <a:r>
              <a:rPr lang="en-US" sz="1400" dirty="0"/>
              <a:t> — Complete </a:t>
            </a:r>
            <a:r>
              <a:rPr lang="en-US" sz="1400" dirty="0" err="1"/>
              <a:t>floorplan</a:t>
            </a:r>
            <a:r>
              <a:rPr lang="en-US" sz="1400" dirty="0"/>
              <a:t>, placement, CTS, and fully routed design database with no routing congestion. </a:t>
            </a:r>
            <a:endParaRPr lang="en-US" sz="1400" dirty="0" smtClean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 smtClean="0"/>
              <a:t>Pegasus </a:t>
            </a:r>
            <a:r>
              <a:rPr lang="en-US" sz="1400" b="1" dirty="0"/>
              <a:t>physical verification</a:t>
            </a:r>
            <a:r>
              <a:rPr lang="en-US" sz="1400" dirty="0"/>
              <a:t> — Final DRC-clean database and clean LVS result; SRAM internal macro issue is outside the scope of the design</a:t>
            </a:r>
            <a:r>
              <a:rPr lang="en-US" sz="1400" dirty="0" smtClean="0"/>
              <a:t>.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 smtClean="0"/>
              <a:t> </a:t>
            </a:r>
            <a:r>
              <a:rPr lang="en-US" sz="1400" b="1" dirty="0" err="1"/>
              <a:t>Voltus</a:t>
            </a:r>
            <a:r>
              <a:rPr lang="en-US" sz="1400" b="1" dirty="0"/>
              <a:t> power integrity</a:t>
            </a:r>
            <a:r>
              <a:rPr lang="en-US" sz="1400" dirty="0"/>
              <a:t> — Static IR-drop analysis results for VDD and VSS power rails</a:t>
            </a:r>
            <a:r>
              <a:rPr lang="en-US" sz="1400" dirty="0" smtClean="0"/>
              <a:t>.</a:t>
            </a:r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 smtClean="0"/>
              <a:t> </a:t>
            </a:r>
            <a:r>
              <a:rPr lang="en-US" sz="1400" b="1" dirty="0"/>
              <a:t>Conformal LEC</a:t>
            </a:r>
            <a:r>
              <a:rPr lang="en-US" sz="1400" dirty="0"/>
              <a:t> — Logical equivalence verification report confirming </a:t>
            </a:r>
            <a:r>
              <a:rPr lang="en-US" sz="1400" b="1" dirty="0"/>
              <a:t>PASS</a:t>
            </a:r>
            <a:r>
              <a:rPr lang="en-US" sz="1400" dirty="0"/>
              <a:t>. </a:t>
            </a:r>
            <a:endParaRPr lang="en-US" sz="1400" dirty="0" smtClean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 smtClean="0"/>
              <a:t>Tempus </a:t>
            </a:r>
            <a:r>
              <a:rPr lang="en-US" sz="1400" b="1" dirty="0"/>
              <a:t>sign-off STA</a:t>
            </a:r>
            <a:r>
              <a:rPr lang="en-US" sz="1400" dirty="0"/>
              <a:t> — Final post-ECO timing reports confirming </a:t>
            </a:r>
            <a:r>
              <a:rPr lang="en-US" sz="1400" b="1" dirty="0"/>
              <a:t>clean setup and hold timing</a:t>
            </a:r>
            <a:r>
              <a:rPr lang="en-US" sz="1400" dirty="0"/>
              <a:t>. </a:t>
            </a:r>
            <a:endParaRPr lang="en-US" sz="1400" dirty="0" smtClean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 smtClean="0"/>
              <a:t>DRC/LVS </a:t>
            </a:r>
            <a:r>
              <a:rPr lang="en-US" sz="1400" dirty="0"/>
              <a:t>and STA were re-run after the ECO with consistent clean results.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stage-wise working directories referenced in this deck (pnr3 / pnr4 / pnr5, tempus, voltus_rak_2313, etc.) are consolidated under the path above.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1281</Words>
  <Application>Microsoft Office PowerPoint</Application>
  <PresentationFormat>Custom</PresentationFormat>
  <Paragraphs>165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ismail - [2010]</cp:lastModifiedBy>
  <cp:revision>7</cp:revision>
  <dcterms:created xsi:type="dcterms:W3CDTF">2026-08-10T05:09:05Z</dcterms:created>
  <dcterms:modified xsi:type="dcterms:W3CDTF">2026-08-17T10:00:13Z</dcterms:modified>
</cp:coreProperties>
</file>